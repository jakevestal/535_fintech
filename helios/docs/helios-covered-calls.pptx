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E6D0"/>
                </a:solidFill>
                <a:latin typeface="Calibri"/>
              </a:rPr>
              <a:t>HELIOS TAPE  ·  HOMEWORK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F6F3"/>
                </a:solidFill>
                <a:latin typeface="Calibri"/>
              </a:rPr>
              <a:t>Covered calls you can actually keep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8AA8A4"/>
                </a:solidFill>
                <a:latin typeface="Calibri"/>
              </a:rPr>
              <a:t>Writing ~5 DTE calls against 100-share lots. Blotter, ledger, Reg T margin,
rolling rules, fills, and pin risk — plus why we stay on Regulation 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E6D0"/>
                </a:solidFill>
                <a:latin typeface="Calibri"/>
              </a:rPr>
              <a:t>Same book as the Helios Tape site  ·  dark tape, cyan ink, no glow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E6D0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F6F3"/>
                </a:solidFill>
                <a:latin typeface="Calibri"/>
              </a:rPr>
              <a:t>What we will actually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 i="0">
                <a:solidFill>
                  <a:srgbClr val="E8F6F3"/>
                </a:solidFill>
                <a:latin typeface="Calibri"/>
              </a:rPr>
              <a:t>▸  Covered call = long 100 shares + short 1 call. Premium is income; upside is capped.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 i="0">
                <a:solidFill>
                  <a:srgbClr val="E8F6F3"/>
                </a:solidFill>
                <a:latin typeface="Calibri"/>
              </a:rPr>
              <a:t>▸  Blotter is fills only. Ledger is the running book: stock, short options, cash.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 i="0">
                <a:solidFill>
                  <a:srgbClr val="E8F6F3"/>
                </a:solidFill>
                <a:latin typeface="Calibri"/>
              </a:rPr>
              <a:t>▸  Roll ~5 DTE. Decide: let it expire, close, or roll. Assignment is a trade, not a surprise.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 i="0">
                <a:solidFill>
                  <a:srgbClr val="E8F6F3"/>
                </a:solidFill>
                <a:latin typeface="Calibri"/>
              </a:rPr>
              <a:t>▸  Fills vs mids — we will test last week’s assumption on the Data page (R²).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 i="0">
                <a:solidFill>
                  <a:srgbClr val="9EF6EA"/>
                </a:solidFill>
                <a:latin typeface="Calibri"/>
              </a:rPr>
              <a:t>▸  Reg T accounts: cash, NAV, initial, maintenance, available funds. Not portfolio margin.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E6D0"/>
                </a:solidFill>
                <a:latin typeface="Calibri"/>
              </a:rPr>
              <a:t>THE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F6F3"/>
                </a:solidFill>
                <a:latin typeface="Calibri"/>
              </a:rPr>
              <a:t>A covered call is two fills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303520" cy="2103120"/>
          </a:xfrm>
          <a:prstGeom prst="roundRect">
            <a:avLst>
              <a:gd name="adj" fmla="val 8000"/>
            </a:avLst>
          </a:prstGeom>
          <a:solidFill>
            <a:srgbClr val="101820"/>
          </a:solidFill>
          <a:ln>
            <a:solidFill>
              <a:srgbClr val="24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72768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E6D0"/>
                </a:solidFill>
                <a:latin typeface="Calibri"/>
              </a:rPr>
              <a:t>Long the stock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01952"/>
            <a:ext cx="498348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6F3"/>
                </a:solidFill>
                <a:latin typeface="Calibri"/>
              </a:rPr>
              <a:t>Buy 100 shares. This is the inventory you are willing to sell. Delta ≈ +100 shares. You fund it with cash or margin. It posts Reg T initial (50% of LMV).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03520" cy="2103120"/>
          </a:xfrm>
          <a:prstGeom prst="roundRect">
            <a:avLst>
              <a:gd name="adj" fmla="val 8000"/>
            </a:avLst>
          </a:prstGeom>
          <a:solidFill>
            <a:srgbClr val="101820"/>
          </a:solidFill>
          <a:ln>
            <a:solidFill>
              <a:srgbClr val="24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72768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E6D0"/>
                </a:solidFill>
                <a:latin typeface="Calibri"/>
              </a:rPr>
              <a:t>Short the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01952"/>
            <a:ext cx="498348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6F3"/>
                </a:solidFill>
                <a:latin typeface="Calibri"/>
              </a:rPr>
              <a:t>Sell 1 call, same name, ~5 DTE, typically a bit OTM. Multiplier 100. Premium hits cash today. The call is covered, so it does not post naked-option margin.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94760"/>
            <a:ext cx="5303520" cy="2194560"/>
          </a:xfrm>
          <a:prstGeom prst="roundRect">
            <a:avLst>
              <a:gd name="adj" fmla="val 8000"/>
            </a:avLst>
          </a:prstGeom>
          <a:solidFill>
            <a:srgbClr val="101820"/>
          </a:solidFill>
          <a:ln>
            <a:solidFill>
              <a:srgbClr val="24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904488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E6D0"/>
                </a:solidFill>
                <a:latin typeface="Calibri"/>
              </a:rPr>
              <a:t>If it expires OTM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233672"/>
            <a:ext cx="498348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6F3"/>
                </a:solidFill>
                <a:latin typeface="Calibri"/>
              </a:rPr>
              <a:t>The call dies at 0. You keep the premium. You still own the shares. Next week you can write again. This is the base case for a quiet tape.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794760"/>
            <a:ext cx="5303520" cy="2194560"/>
          </a:xfrm>
          <a:prstGeom prst="roundRect">
            <a:avLst>
              <a:gd name="adj" fmla="val 8000"/>
            </a:avLst>
          </a:prstGeom>
          <a:solidFill>
            <a:srgbClr val="101820"/>
          </a:solidFill>
          <a:ln>
            <a:solidFill>
              <a:srgbClr val="24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904488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E6D0"/>
                </a:solidFill>
                <a:latin typeface="Calibri"/>
              </a:rPr>
              <a:t>If it finishes ITM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33672"/>
            <a:ext cx="498348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6F3"/>
                </a:solidFill>
                <a:latin typeface="Calibri"/>
              </a:rPr>
              <a:t>You can be assigned: shares called away at strike. P&amp;L = (strike − cost) + net premium. Or you roll before the bell. Pin risk lives in that last afternoon.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E6D0"/>
                </a:solidFill>
                <a:latin typeface="Calibri"/>
              </a:rPr>
              <a:t>PAYOFF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F6F3"/>
                </a:solidFill>
                <a:latin typeface="Calibri"/>
              </a:rPr>
              <a:t>You sold the upside above the strike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 i="0">
                <a:solidFill>
                  <a:srgbClr val="E8F6F3"/>
                </a:solidFill>
                <a:latin typeface="Calibri"/>
              </a:rPr>
              <a:t>▸  Max gain ≈ (strike − stock entry) + net premium received. You will not participate above the strike.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 i="0">
                <a:solidFill>
                  <a:srgbClr val="E8F6F3"/>
                </a:solidFill>
                <a:latin typeface="Calibri"/>
              </a:rPr>
              <a:t>▸  Max loss ≈ stock can go to zero, minus premium. Covered calls are not a hedge against a crash.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 i="0">
                <a:solidFill>
                  <a:srgbClr val="E8F6F3"/>
                </a:solidFill>
                <a:latin typeface="Calibri"/>
              </a:rPr>
              <a:t>▸  Breakeven ≈ stock entry − net premium. The call only cushions a little.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 i="0">
                <a:solidFill>
                  <a:srgbClr val="E8F6F3"/>
                </a:solidFill>
                <a:latin typeface="Calibri"/>
              </a:rPr>
              <a:t>▸  That is why strike choice matters: too close and you get called; too far and you get paid nothing.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 i="0">
                <a:solidFill>
                  <a:srgbClr val="9EF6EA"/>
                </a:solidFill>
                <a:latin typeface="Calibri"/>
              </a:rPr>
              <a:t>▸  Your backtest should report NAV, not just “premium harvested.” Called-away weeks change the stock basis.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E6D0"/>
                </a:solidFill>
                <a:latin typeface="Calibri"/>
              </a:rPr>
              <a:t>THE 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F6F3"/>
                </a:solidFill>
                <a:latin typeface="Calibri"/>
              </a:rPr>
              <a:t>Blotter ≠ ledger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303520" cy="4389120"/>
          </a:xfrm>
          <a:prstGeom prst="roundRect">
            <a:avLst>
              <a:gd name="adj" fmla="val 8000"/>
            </a:avLst>
          </a:prstGeom>
          <a:solidFill>
            <a:srgbClr val="101820"/>
          </a:solidFill>
          <a:ln>
            <a:solidFill>
              <a:srgbClr val="24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72768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E6D0"/>
                </a:solidFill>
                <a:latin typeface="Calibri"/>
              </a:rPr>
              <a:t>Blotter — trades you made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01952"/>
            <a:ext cx="4983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6F3"/>
                </a:solidFill>
                <a:latin typeface="Calibri"/>
              </a:rPr>
              <a:t>Time, side, qty, instrument, price, cash delta, note.
BUY 100 UUUU @ 12.90
SELL 1 7/3 13.5C @ 0.22
BTC 1 7/10 13.5C @ 0.06   (the close of a roll)
SELL 1 7/17 14.0C @ 0.21  (the new write)
EXPIRE @ 0.00             (OTM, still a row)
Working orders and “I would have” do not go here.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03520" cy="4389120"/>
          </a:xfrm>
          <a:prstGeom prst="roundRect">
            <a:avLst>
              <a:gd name="adj" fmla="val 8000"/>
            </a:avLst>
          </a:prstGeom>
          <a:solidFill>
            <a:srgbClr val="101820"/>
          </a:solidFill>
          <a:ln>
            <a:solidFill>
              <a:srgbClr val="24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72768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E6D0"/>
                </a:solidFill>
                <a:latin typeface="Calibri"/>
              </a:rPr>
              <a:t>Ledger — the position through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01952"/>
            <a:ext cx="4983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6F3"/>
                </a:solidFill>
                <a:latin typeface="Calibri"/>
              </a:rPr>
              <a:t>After every mark: cash, shares, short calls, spot, LMV, option MV, NAV.
NAV = cash + stock market value + option market value
(short options are negative).
Then the margin columns: initial, maintenance, available funds, excess equity.
If the blotter and the ledger disagree, the blotter is wrong or a fill is missing.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E6D0"/>
                </a:solidFill>
                <a:latin typeface="Calibri"/>
              </a:rPr>
              <a:t>ROLLING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F6F3"/>
                </a:solidFill>
                <a:latin typeface="Calibri"/>
              </a:rPr>
              <a:t>~5 DTE, then decide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E8F6F3"/>
                </a:solidFill>
                <a:latin typeface="Calibri"/>
              </a:rPr>
              <a:t>▸  Default: write a call that expires about five calendar days out (the next weekly).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E8F6F3"/>
                </a:solidFill>
                <a:latin typeface="Calibri"/>
              </a:rPr>
              <a:t>▸  Hold into expiry only if you are happy to sell the shares at strike, and the print is not glued to it.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E8F6F3"/>
                </a:solidFill>
                <a:latin typeface="Calibri"/>
              </a:rPr>
              <a:t>▸  Roll = buy to close the current short, sell a later (and maybe higher) call in one thought, two fills.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E8F6F3"/>
                </a:solidFill>
                <a:latin typeface="Calibri"/>
              </a:rPr>
              <a:t>▸  Roll out: same strike, next week. Roll up: higher strike when the stock has run. Roll down is usually you paying.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9EF6EA"/>
                </a:solidFill>
                <a:latin typeface="Calibri"/>
              </a:rPr>
              <a:t>▸  Write the rule before you see the tape: e.g. “if short call delta &gt; 0.55 with one session left, BTC and roll up.”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E8F6F3"/>
                </a:solidFill>
                <a:latin typeface="Calibri"/>
              </a:rPr>
              <a:t>▸  Do not invent the rule on Friday at 3:50. That is how pin risk becomes a story you tell next week.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E6D0"/>
                </a:solidFill>
                <a:latin typeface="Calibri"/>
              </a:rPr>
              <a:t>FILLS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F6F3"/>
                </a:solidFill>
                <a:latin typeface="Calibri"/>
              </a:rPr>
              <a:t>A limit is not a trade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E8F6F3"/>
                </a:solidFill>
                <a:latin typeface="Calibri"/>
              </a:rPr>
              <a:t>▸  The blotter records the price you got, not the mid you wanted. Slippage is part of the strategy.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E8F6F3"/>
                </a:solidFill>
                <a:latin typeface="Calibri"/>
              </a:rPr>
              <a:t>▸  Last week: we assumed the trade sits near the bid/ask midpoint. Test that on Data — scatter trade vs mid, report R².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E8F6F3"/>
                </a:solidFill>
                <a:latin typeface="Calibri"/>
              </a:rPr>
              <a:t>▸  If R² is high and slope ≈ 1, marking the book on mid is honest. If not, your backtest is marking fantasy fills.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E8F6F3"/>
                </a:solidFill>
                <a:latin typeface="Calibri"/>
              </a:rPr>
              <a:t>▸  Opening a short call: you are selling. You may print on the bid. Closing (BTC): you may print on the ask. That spread is a cost.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9EF6EA"/>
                </a:solidFill>
                <a:latin typeface="Calibri"/>
              </a:rPr>
              <a:t>▸  Weeklies on names like UUUU can be wide. A 0.05 wide market on a 0.20 option is a lot of edge you do not have.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E6D0"/>
                </a:solidFill>
                <a:latin typeface="Calibri"/>
              </a:rPr>
              <a:t>PIN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F6F3"/>
                </a:solidFill>
                <a:latin typeface="Calibri"/>
              </a:rPr>
              <a:t>The stock loves the strike on expiry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E8F6F3"/>
                </a:solidFill>
                <a:latin typeface="Calibri"/>
              </a:rPr>
              <a:t>▸  Pin: spot sits on your short strike into the close. Assignment is a coin toss after the bell.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E8F6F3"/>
                </a:solidFill>
                <a:latin typeface="Calibri"/>
              </a:rPr>
              <a:t>▸  If assigned, you sell the shares at strike. Over the weekend you are flat stock you still wanted — or still long stock you thought was called.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E8F6F3"/>
                </a:solidFill>
                <a:latin typeface="Calibri"/>
              </a:rPr>
              <a:t>▸  Monday gap is then unhedged. That is the risk, not the 0.02 of extra premium.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E8F6F3"/>
                </a:solidFill>
                <a:latin typeface="Calibri"/>
              </a:rPr>
              <a:t>▸  Operational: OCC assignment is random among shorts. You will not know Friday night with certainty.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9EF6EA"/>
                </a:solidFill>
                <a:latin typeface="Calibri"/>
              </a:rPr>
              <a:t>▸  Practical rule: if you are at-the-money Friday afternoon, BTC. Do not harvest the last tick of theta if you cannot live with the stock disappearing.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E8F6F3"/>
                </a:solidFill>
                <a:latin typeface="Calibri"/>
              </a:rPr>
              <a:t>▸  Your sample book shows one ITM BTC on 24 Jul — that is the roll that exists to avoid the pin.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E6D0"/>
                </a:solidFill>
                <a:latin typeface="Calibri"/>
              </a:rPr>
              <a:t>REG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F6F3"/>
                </a:solidFill>
                <a:latin typeface="Calibri"/>
              </a:rPr>
              <a:t>The accounts on the home page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101820"/>
          </a:solidFill>
          <a:ln>
            <a:solidFill>
              <a:srgbClr val="24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52704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E6D0"/>
                </a:solidFill>
                <a:latin typeface="Calibri"/>
              </a:rPr>
              <a:t>Cash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56232"/>
            <a:ext cx="333756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6F3"/>
                </a:solidFill>
                <a:latin typeface="Calibri"/>
              </a:rPr>
              <a:t>Settled dollars. Buys spend it. Short calls credit it. BTC debits it. Expiry at 0 does nothing to cash — premium was already yours.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101820"/>
          </a:solidFill>
          <a:ln>
            <a:solidFill>
              <a:srgbClr val="24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52704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E6D0"/>
                </a:solidFill>
                <a:latin typeface="Calibri"/>
              </a:rPr>
              <a:t>LMV / stock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856232"/>
            <a:ext cx="333756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6F3"/>
                </a:solidFill>
                <a:latin typeface="Calibri"/>
              </a:rPr>
              <a:t>Shares × mark. This is the collateral that covers the short call. 100 shares cover 1 call. No more.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17320"/>
            <a:ext cx="3291840" cy="2194560"/>
          </a:xfrm>
          <a:prstGeom prst="roundRect">
            <a:avLst>
              <a:gd name="adj" fmla="val 8000"/>
            </a:avLst>
          </a:prstGeom>
          <a:solidFill>
            <a:srgbClr val="101820"/>
          </a:solidFill>
          <a:ln>
            <a:solidFill>
              <a:srgbClr val="24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52704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E6D0"/>
                </a:solidFill>
                <a:latin typeface="Calibri"/>
              </a:rPr>
              <a:t>Option MV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856232"/>
            <a:ext cx="297180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6F3"/>
                </a:solidFill>
                <a:latin typeface="Calibri"/>
              </a:rPr>
              <a:t>Short × mark × 100. Negative if you are short. NAV includes this mark-to-market.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9476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101820"/>
          </a:solidFill>
          <a:ln>
            <a:solidFill>
              <a:srgbClr val="24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90448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E6D0"/>
                </a:solidFill>
                <a:latin typeface="Calibri"/>
              </a:rPr>
              <a:t>NAV / equity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233672"/>
            <a:ext cx="333756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6F3"/>
                </a:solidFill>
                <a:latin typeface="Calibri"/>
              </a:rPr>
              <a:t>Cash + LMV + option MV. The number that should grow if the strategy works. Not “premium collected.”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79476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101820"/>
          </a:solidFill>
          <a:ln>
            <a:solidFill>
              <a:srgbClr val="24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390448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E6D0"/>
                </a:solidFill>
                <a:latin typeface="Calibri"/>
              </a:rPr>
              <a:t>SMA (idea)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233672"/>
            <a:ext cx="333756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6F3"/>
                </a:solidFill>
                <a:latin typeface="Calibri"/>
              </a:rPr>
              <a:t>Reg T leftover buying power. We show available funds instead: NAV − initial. Same spirit, fewer broker quirks.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794760"/>
            <a:ext cx="3291840" cy="2194560"/>
          </a:xfrm>
          <a:prstGeom prst="roundRect">
            <a:avLst>
              <a:gd name="adj" fmla="val 8000"/>
            </a:avLst>
          </a:prstGeom>
          <a:solidFill>
            <a:srgbClr val="101820"/>
          </a:solidFill>
          <a:ln>
            <a:solidFill>
              <a:srgbClr val="24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90448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E6D0"/>
                </a:solidFill>
                <a:latin typeface="Calibri"/>
              </a:rPr>
              <a:t>Excess equity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233672"/>
            <a:ext cx="297180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6F3"/>
                </a:solidFill>
                <a:latin typeface="Calibri"/>
              </a:rPr>
              <a:t>NAV − maintenance. When this hits 0, you are at a margin call. Do not write size that lives here.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E6D0"/>
                </a:solidFill>
                <a:latin typeface="Calibri"/>
              </a:rPr>
              <a:t>REG T  ·  FINRA 4210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F6F3"/>
                </a:solidFill>
                <a:latin typeface="Calibri"/>
              </a:rPr>
              <a:t>Initial vs maintenance, covered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E8F6F3"/>
                </a:solidFill>
                <a:latin typeface="Calibri"/>
              </a:rPr>
              <a:t>▸  Long equity initial (Reg T): 50% of current LMV. You post this to put the shares 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E8F6F3"/>
                </a:solidFill>
                <a:latin typeface="Calibri"/>
              </a:rPr>
              <a:t>▸  Long equity maintenance (FINRA): 25% of LMV. Overnight you must stay above this.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E8F6F3"/>
                </a:solidFill>
                <a:latin typeface="Calibri"/>
              </a:rPr>
              <a:t>▸  Covered short call: the shares cover the call. There is no extra naked-call haircut. Premium credits cash, which helps.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E8F6F3"/>
                </a:solidFill>
                <a:latin typeface="Calibri"/>
              </a:rPr>
              <a:t>▸  Naked call (do not do this in the homework): ~20% of underlying + ITM − premium, with a 10% floor. Much heavier. Covered is the point.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9EF6EA"/>
                </a:solidFill>
                <a:latin typeface="Calibri"/>
              </a:rPr>
              <a:t>▸  Available funds ≈ NAV − initial. That is what you can still put toward another 100-share lot.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E8F6F3"/>
                </a:solidFill>
                <a:latin typeface="Calibri"/>
              </a:rPr>
              <a:t>▸  If NAV &lt; maintenance → margin call. You close or deposit. Your backtest should flag this; do not pretend the broker waited.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E6D0"/>
                </a:solidFill>
                <a:latin typeface="Calibri"/>
              </a:rPr>
              <a:t>CAPACITY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F6F3"/>
                </a:solidFill>
                <a:latin typeface="Calibri"/>
              </a:rPr>
              <a:t>Available funds are the speed limit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E8F6F3"/>
                </a:solidFill>
                <a:latin typeface="Calibri"/>
              </a:rPr>
              <a:t>▸  A pretty yield on one lot does not mean you can scale. The next 100 shares need initial margin too.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E8F6F3"/>
                </a:solidFill>
                <a:latin typeface="Calibri"/>
              </a:rPr>
              <a:t>▸  Writing a tighter strike does not free capital — the stock is what posts. The call only changes NAV through its mark and the premium.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E8F6F3"/>
                </a:solidFill>
                <a:latin typeface="Calibri"/>
              </a:rPr>
              <a:t>▸  If the stock rips, LMV rises, initial rises, available funds shrink even as NAV is up. You can be rich and tight at the same time.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E8F6F3"/>
                </a:solidFill>
                <a:latin typeface="Calibri"/>
              </a:rPr>
              <a:t>▸  If the stock dumps, LMV falls (easier initial) but NAV falls faster. Maintenance is the one that bites.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9EF6EA"/>
                </a:solidFill>
                <a:latin typeface="Calibri"/>
              </a:rPr>
              <a:t>▸  Track available funds on every ledger row. That is the homework-relevant risk metric, not just max-pain of the call.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E6D0"/>
                </a:solidFill>
                <a:latin typeface="Calibri"/>
              </a:rPr>
              <a:t>WHY REGULATION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F6F3"/>
                </a:solidFill>
                <a:latin typeface="Calibri"/>
              </a:rPr>
              <a:t>Not portfolio margin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E8F6F3"/>
                </a:solidFill>
                <a:latin typeface="Calibri"/>
              </a:rPr>
              <a:t>▸  Easier to calculate. 50% / 25% of LMV, covered call adds $0. You can do it on paper without a SPAN file.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E8F6F3"/>
                </a:solidFill>
                <a:latin typeface="Calibri"/>
              </a:rPr>
              <a:t>▸  Not broker-dependent. PM haircuts are house models (TIMS/SPAN + broker add-ons). Two brokers, two numbers. Reg T is the same exam question.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E8F6F3"/>
                </a:solidFill>
                <a:latin typeface="Calibri"/>
              </a:rPr>
              <a:t>▸  If it works in Reg T, it will work in PM. PM is looser for hedged books. The reverse is false: a PM-sized book can be illegal / unfundable on Reg 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E8F6F3"/>
                </a:solidFill>
                <a:latin typeface="Calibri"/>
              </a:rPr>
              <a:t>▸  Your classmates will not all have PM accounts. Grade the strategy on the constraint everyone shares.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9EF6EA"/>
                </a:solidFill>
                <a:latin typeface="Calibri"/>
              </a:rPr>
              <a:t>▸  We are not saying PM is bad. We are saying the homework constraint is the conservative one on purpose.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E6D0"/>
                </a:solidFill>
                <a:latin typeface="Calibri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F6F3"/>
                </a:solidFill>
                <a:latin typeface="Calibri"/>
              </a:rPr>
              <a:t>What you pull, what you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E8F6F3"/>
                </a:solidFill>
                <a:latin typeface="Calibri"/>
              </a:rPr>
              <a:t>▸  Data page talks to local LSEG Workspace. GitHub Pages will not. The blotter page is the turn-in surface.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E8F6F3"/>
                </a:solidFill>
                <a:latin typeface="Calibri"/>
              </a:rPr>
              <a:t>▸  Search the name, fetch OHLC, then pull weeklies in the traded high/low (plus a step of OTM).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E8F6F3"/>
                </a:solidFill>
                <a:latin typeface="Calibri"/>
              </a:rPr>
              <a:t>▸  Cache is keyed expiry|strike so you can build a daily surface and pick ~5 DTE calls.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E8F6F3"/>
                </a:solidFill>
                <a:latin typeface="Calibri"/>
              </a:rPr>
              <a:t>▸  Then the scatter: every bar with a trade and a two-sided quote. Mid = (bid+ask)/2 vs TRDPRC_1. OLS + R².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9EF6EA"/>
                </a:solidFill>
                <a:latin typeface="Calibri"/>
              </a:rPr>
              <a:t>▸  If trades do not track the mid, your fill model is the first thing to fix — before rolling rules.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E6D0"/>
                </a:solidFill>
                <a:latin typeface="Calibri"/>
              </a:rPr>
              <a:t>TURN-IN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F6F3"/>
                </a:solidFill>
                <a:latin typeface="Calibri"/>
              </a:rPr>
              <a:t>What I want to 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 i="0">
                <a:solidFill>
                  <a:srgbClr val="E8F6F3"/>
                </a:solidFill>
                <a:latin typeface="Calibri"/>
              </a:rPr>
              <a:t>▸  A blotter of fills: stock + written calls + any BTC/rolls/expiries. No phantom trades.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 i="0">
                <a:solidFill>
                  <a:srgbClr val="E8F6F3"/>
                </a:solidFill>
                <a:latin typeface="Calibri"/>
              </a:rPr>
              <a:t>▸  A ledger that still adds up: cash, shares, short calls, NAV, initial, maintenance, available funds.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 i="0">
                <a:solidFill>
                  <a:srgbClr val="E8F6F3"/>
                </a:solidFill>
                <a:latin typeface="Calibri"/>
              </a:rPr>
              <a:t>▸  A rule for ~5 DTE writes and a rule for rolling vs pin. Written before the results.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 i="0">
                <a:solidFill>
                  <a:srgbClr val="E8F6F3"/>
                </a:solidFill>
                <a:latin typeface="Calibri"/>
              </a:rPr>
              <a:t>▸  The midpoint scatter and R² from your name. Tell me whether last week’s assumption survived.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0" i="0">
                <a:solidFill>
                  <a:srgbClr val="9EF6EA"/>
                </a:solidFill>
                <a:latin typeface="Calibri"/>
              </a:rPr>
              <a:t>▸  Host the static blotter/results. Keep the LSEG fetch page for local work only.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E6D0"/>
                </a:solidFill>
                <a:latin typeface="Calibri"/>
              </a:rPr>
              <a:t>HELIOS TAPE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8F6F3"/>
                </a:solidFill>
                <a:latin typeface="Calibri"/>
              </a:rPr>
              <a:t>Write it small, mark it honest, roll on purpose.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8AA8A4"/>
                </a:solidFill>
                <a:latin typeface="Calibri"/>
              </a:rPr>
              <a:t>Questions: blotter vs ledger, Reg T vs PM, or the midpoint test.
The sample book on the site is a template — not the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E6D0"/>
                </a:solidFill>
                <a:latin typeface="Calibri"/>
              </a:rPr>
              <a:t>Deck matches the site: #070b10  ·  #2EE6D0  ·  no glow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